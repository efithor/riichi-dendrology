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verage"/>
      <p:regular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f13ddab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f13ddab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Mahjong overview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0f13ddab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0f13ddab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Mahjong overview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0f13ddabe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0f13ddabe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Hand Overview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0f13ddabe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0f13ddabe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Hand Overview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0f13ddabe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0f13ddab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Chiitoi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f13ddab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f13ddab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game - half suji trap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0f13ddabe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0f13ddabe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f13ddab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f13ddab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concept methodology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0f13ddab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0f13ddab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0f13ddabe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0f13ddabe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working with 100MB of data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0f13ddabe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0f13ddabe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0f13ddabe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0f13ddabe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0f13ddabe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0f13ddabe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0f13ddabe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0f13ddab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0f13ddabe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0f13ddabe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0f13ddabe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0f13ddabe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0f13ddabe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0f13ddabe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0f13ddabe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0f13ddabe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0f13ddabe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40f13ddabe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0f13ddabe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0f13ddabe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0f13ddab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0f13ddab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0f13ddabe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0f13ddabe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Mining Mahjong Board States for Heuristics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(Specifically relating to the chiitoi)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standard_g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25" y="152400"/>
            <a:ext cx="65255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standard_game_annot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25" y="152400"/>
            <a:ext cx="65255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standard_ha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25" y="152400"/>
            <a:ext cx="65255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standard_hand_annot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25" y="152400"/>
            <a:ext cx="65255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chiito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25" y="152400"/>
            <a:ext cx="652555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 title="chiitoi_full_g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18401"/>
            <a:ext cx="9144000" cy="678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chiitoi_ha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113" y="3818145"/>
            <a:ext cx="4154501" cy="60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 title="chiitoi_discar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500" y="889363"/>
            <a:ext cx="29241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 title="standard_hand_cro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338" y="3792375"/>
            <a:ext cx="4154501" cy="6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 title="nonchiitoi_disc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5363" y="875075"/>
            <a:ext cx="28479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4320125" y="2655713"/>
            <a:ext cx="432000" cy="64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?</a:t>
            </a:r>
            <a:endParaRPr sz="3000">
              <a:solidFill>
                <a:schemeClr val="dk1"/>
              </a:solidFill>
            </a:endParaRPr>
          </a:p>
        </p:txBody>
      </p:sp>
      <p:cxnSp>
        <p:nvCxnSpPr>
          <p:cNvPr id="100" name="Google Shape;100;p20"/>
          <p:cNvCxnSpPr>
            <a:stCxn id="96" idx="2"/>
          </p:cNvCxnSpPr>
          <p:nvPr/>
        </p:nvCxnSpPr>
        <p:spPr>
          <a:xfrm>
            <a:off x="2315588" y="2137138"/>
            <a:ext cx="2013600" cy="50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20"/>
          <p:cNvCxnSpPr>
            <a:endCxn id="97" idx="0"/>
          </p:cNvCxnSpPr>
          <p:nvPr/>
        </p:nvCxnSpPr>
        <p:spPr>
          <a:xfrm flipH="1">
            <a:off x="2315588" y="3303075"/>
            <a:ext cx="2007900" cy="48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20"/>
          <p:cNvCxnSpPr/>
          <p:nvPr/>
        </p:nvCxnSpPr>
        <p:spPr>
          <a:xfrm flipH="1">
            <a:off x="4766575" y="2151413"/>
            <a:ext cx="2126100" cy="49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20"/>
          <p:cNvCxnSpPr/>
          <p:nvPr/>
        </p:nvCxnSpPr>
        <p:spPr>
          <a:xfrm>
            <a:off x="4755450" y="3303225"/>
            <a:ext cx="2137200" cy="50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3983900" y="250750"/>
            <a:ext cx="1775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Discard Dataset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2453575" y="1861650"/>
            <a:ext cx="1775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Train/Validate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5210688" y="1861650"/>
            <a:ext cx="1775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Test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1985125" y="2904150"/>
            <a:ext cx="27120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Train Transformer Model (Low Layer Ideal)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983900" y="987725"/>
            <a:ext cx="1775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Clean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5210700" y="3042750"/>
            <a:ext cx="1775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Test Model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5210700" y="4066775"/>
            <a:ext cx="17751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Examine Gradients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685050" y="4066775"/>
            <a:ext cx="17751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Locate Heuristics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6" name="Google Shape;116;p21"/>
          <p:cNvCxnSpPr>
            <a:stCxn id="108" idx="2"/>
            <a:endCxn id="112" idx="0"/>
          </p:cNvCxnSpPr>
          <p:nvPr/>
        </p:nvCxnSpPr>
        <p:spPr>
          <a:xfrm>
            <a:off x="4871450" y="712450"/>
            <a:ext cx="0" cy="2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1"/>
          <p:cNvCxnSpPr>
            <a:stCxn id="112" idx="2"/>
            <a:endCxn id="109" idx="3"/>
          </p:cNvCxnSpPr>
          <p:nvPr/>
        </p:nvCxnSpPr>
        <p:spPr>
          <a:xfrm flipH="1">
            <a:off x="4228550" y="1449425"/>
            <a:ext cx="642900" cy="64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1"/>
          <p:cNvCxnSpPr>
            <a:stCxn id="112" idx="2"/>
            <a:endCxn id="110" idx="1"/>
          </p:cNvCxnSpPr>
          <p:nvPr/>
        </p:nvCxnSpPr>
        <p:spPr>
          <a:xfrm>
            <a:off x="4871450" y="1449425"/>
            <a:ext cx="339300" cy="64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1"/>
          <p:cNvCxnSpPr>
            <a:stCxn id="109" idx="2"/>
            <a:endCxn id="111" idx="0"/>
          </p:cNvCxnSpPr>
          <p:nvPr/>
        </p:nvCxnSpPr>
        <p:spPr>
          <a:xfrm>
            <a:off x="3341125" y="2323350"/>
            <a:ext cx="0" cy="58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>
            <a:stCxn id="111" idx="3"/>
            <a:endCxn id="113" idx="1"/>
          </p:cNvCxnSpPr>
          <p:nvPr/>
        </p:nvCxnSpPr>
        <p:spPr>
          <a:xfrm>
            <a:off x="4697125" y="3273600"/>
            <a:ext cx="513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1"/>
          <p:cNvCxnSpPr>
            <a:stCxn id="110" idx="2"/>
            <a:endCxn id="113" idx="0"/>
          </p:cNvCxnSpPr>
          <p:nvPr/>
        </p:nvCxnSpPr>
        <p:spPr>
          <a:xfrm>
            <a:off x="6098238" y="2323350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1"/>
          <p:cNvCxnSpPr>
            <a:stCxn id="113" idx="2"/>
            <a:endCxn id="114" idx="0"/>
          </p:cNvCxnSpPr>
          <p:nvPr/>
        </p:nvCxnSpPr>
        <p:spPr>
          <a:xfrm>
            <a:off x="6098250" y="3504450"/>
            <a:ext cx="0" cy="5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1"/>
          <p:cNvCxnSpPr>
            <a:stCxn id="114" idx="1"/>
            <a:endCxn id="115" idx="3"/>
          </p:cNvCxnSpPr>
          <p:nvPr/>
        </p:nvCxnSpPr>
        <p:spPr>
          <a:xfrm rot="10800000">
            <a:off x="4460100" y="4436225"/>
            <a:ext cx="75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00" y="1128713"/>
            <a:ext cx="68865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0" y="65825"/>
            <a:ext cx="2563500" cy="18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925" y="2057075"/>
            <a:ext cx="5556150" cy="28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 rotWithShape="1">
          <a:blip r:embed="rId5">
            <a:alphaModFix/>
          </a:blip>
          <a:srcRect b="0" l="0" r="16964" t="0"/>
          <a:stretch/>
        </p:blipFill>
        <p:spPr>
          <a:xfrm>
            <a:off x="2844577" y="41100"/>
            <a:ext cx="6299424" cy="19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552450"/>
            <a:ext cx="78105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325" y="152400"/>
            <a:ext cx="505535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0586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776" y="152400"/>
            <a:ext cx="4272757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1772" y="2622272"/>
            <a:ext cx="240447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7350" y="53448"/>
            <a:ext cx="1811775" cy="50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0249" y="3456863"/>
            <a:ext cx="2148800" cy="7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325" y="3317500"/>
            <a:ext cx="1597400" cy="15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5325" y="303925"/>
            <a:ext cx="3203675" cy="26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850" y="3336975"/>
            <a:ext cx="3564549" cy="155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5275" y="347200"/>
            <a:ext cx="1713133" cy="26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50" y="339175"/>
            <a:ext cx="20193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800" y="1508175"/>
            <a:ext cx="3425905" cy="21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500" y="4091700"/>
            <a:ext cx="3000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3025" y="1287562"/>
            <a:ext cx="4202000" cy="25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00" y="1061300"/>
            <a:ext cx="3075400" cy="30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3882900" y="1381725"/>
            <a:ext cx="47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Increase if the GPU can process data faster than the CPU can load it.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882900" y="1854513"/>
            <a:ext cx="47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Good for GPU training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3882900" y="2279513"/>
            <a:ext cx="473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Bespoke function to set all sequences to be the same size via padding token (the integer ‘80’ in this case).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3882900" y="2925375"/>
            <a:ext cx="47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Don’t shuffle here to increase 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reproducibility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3882900" y="819725"/>
            <a:ext cx="47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Larger batch sizes means faster training, but more GPU memory use.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81" name="Google Shape;181;p29"/>
          <p:cNvCxnSpPr>
            <a:stCxn id="180" idx="1"/>
          </p:cNvCxnSpPr>
          <p:nvPr/>
        </p:nvCxnSpPr>
        <p:spPr>
          <a:xfrm flipH="1">
            <a:off x="2764500" y="1004375"/>
            <a:ext cx="1118400" cy="315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9"/>
          <p:cNvCxnSpPr>
            <a:stCxn id="176" idx="1"/>
          </p:cNvCxnSpPr>
          <p:nvPr/>
        </p:nvCxnSpPr>
        <p:spPr>
          <a:xfrm flipH="1">
            <a:off x="2706600" y="1566375"/>
            <a:ext cx="1176300" cy="20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9"/>
          <p:cNvCxnSpPr>
            <a:stCxn id="177" idx="1"/>
          </p:cNvCxnSpPr>
          <p:nvPr/>
        </p:nvCxnSpPr>
        <p:spPr>
          <a:xfrm rot="10800000">
            <a:off x="2786100" y="1925463"/>
            <a:ext cx="1096800" cy="113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9"/>
          <p:cNvCxnSpPr>
            <a:stCxn id="178" idx="1"/>
          </p:cNvCxnSpPr>
          <p:nvPr/>
        </p:nvCxnSpPr>
        <p:spPr>
          <a:xfrm flipH="1">
            <a:off x="3045900" y="2556563"/>
            <a:ext cx="837000" cy="6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9"/>
          <p:cNvCxnSpPr>
            <a:stCxn id="179" idx="1"/>
          </p:cNvCxnSpPr>
          <p:nvPr/>
        </p:nvCxnSpPr>
        <p:spPr>
          <a:xfrm rot="10800000">
            <a:off x="2692200" y="2538825"/>
            <a:ext cx="1190700" cy="57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9"/>
          <p:cNvCxnSpPr>
            <a:stCxn id="179" idx="1"/>
          </p:cNvCxnSpPr>
          <p:nvPr/>
        </p:nvCxnSpPr>
        <p:spPr>
          <a:xfrm flipH="1">
            <a:off x="2598600" y="3110025"/>
            <a:ext cx="1284300" cy="49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669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9" y="1278075"/>
            <a:ext cx="3715101" cy="2875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0563" y="152400"/>
            <a:ext cx="311059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6090975" y="908775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Token embedding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95" name="Google Shape;195;p30"/>
          <p:cNvCxnSpPr/>
          <p:nvPr/>
        </p:nvCxnSpPr>
        <p:spPr>
          <a:xfrm flipH="1" rot="10800000">
            <a:off x="1804725" y="330650"/>
            <a:ext cx="1096800" cy="1306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30"/>
          <p:cNvSpPr txBox="1"/>
          <p:nvPr/>
        </p:nvSpPr>
        <p:spPr>
          <a:xfrm>
            <a:off x="6090975" y="1278075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Position 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embedding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6090975" y="2036625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Define layers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98" name="Google Shape;198;p30"/>
          <p:cNvCxnSpPr>
            <a:stCxn id="197" idx="1"/>
          </p:cNvCxnSpPr>
          <p:nvPr/>
        </p:nvCxnSpPr>
        <p:spPr>
          <a:xfrm rot="10800000">
            <a:off x="4958175" y="1997775"/>
            <a:ext cx="1132800" cy="22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0"/>
          <p:cNvCxnSpPr>
            <a:stCxn id="197" idx="1"/>
          </p:cNvCxnSpPr>
          <p:nvPr/>
        </p:nvCxnSpPr>
        <p:spPr>
          <a:xfrm flipH="1">
            <a:off x="5196075" y="2221275"/>
            <a:ext cx="894900" cy="324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0"/>
          <p:cNvSpPr txBox="1"/>
          <p:nvPr/>
        </p:nvSpPr>
        <p:spPr>
          <a:xfrm>
            <a:off x="6090975" y="2888975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Final layer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01" name="Google Shape;201;p30"/>
          <p:cNvCxnSpPr>
            <a:stCxn id="200" idx="1"/>
          </p:cNvCxnSpPr>
          <p:nvPr/>
        </p:nvCxnSpPr>
        <p:spPr>
          <a:xfrm rot="10800000">
            <a:off x="4885875" y="3072725"/>
            <a:ext cx="1205100" cy="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0"/>
          <p:cNvSpPr txBox="1"/>
          <p:nvPr/>
        </p:nvSpPr>
        <p:spPr>
          <a:xfrm>
            <a:off x="6127925" y="395780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Pass embeddings through the encoder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6127925" y="439885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Collapse output to scalar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04" name="Google Shape;204;p30"/>
          <p:cNvCxnSpPr>
            <a:stCxn id="202" idx="1"/>
          </p:cNvCxnSpPr>
          <p:nvPr/>
        </p:nvCxnSpPr>
        <p:spPr>
          <a:xfrm flipH="1">
            <a:off x="5362025" y="4142450"/>
            <a:ext cx="765900" cy="84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0"/>
          <p:cNvCxnSpPr>
            <a:stCxn id="203" idx="1"/>
          </p:cNvCxnSpPr>
          <p:nvPr/>
        </p:nvCxnSpPr>
        <p:spPr>
          <a:xfrm flipH="1">
            <a:off x="5254025" y="4583500"/>
            <a:ext cx="873900" cy="55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0"/>
          <p:cNvCxnSpPr>
            <a:stCxn id="203" idx="1"/>
          </p:cNvCxnSpPr>
          <p:nvPr/>
        </p:nvCxnSpPr>
        <p:spPr>
          <a:xfrm rot="10800000">
            <a:off x="4972625" y="4458400"/>
            <a:ext cx="1155300" cy="12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0"/>
          <p:cNvCxnSpPr>
            <a:stCxn id="194" idx="1"/>
          </p:cNvCxnSpPr>
          <p:nvPr/>
        </p:nvCxnSpPr>
        <p:spPr>
          <a:xfrm flipH="1">
            <a:off x="5304375" y="1093425"/>
            <a:ext cx="786600" cy="33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0"/>
          <p:cNvCxnSpPr>
            <a:stCxn id="196" idx="1"/>
          </p:cNvCxnSpPr>
          <p:nvPr/>
        </p:nvCxnSpPr>
        <p:spPr>
          <a:xfrm flipH="1">
            <a:off x="5239575" y="1462725"/>
            <a:ext cx="851400" cy="203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125" y="152400"/>
            <a:ext cx="2961784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/>
        </p:nvSpPr>
        <p:spPr>
          <a:xfrm>
            <a:off x="4806525" y="60325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Binary classification loss function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15" name="Google Shape;215;p31"/>
          <p:cNvCxnSpPr>
            <a:stCxn id="214" idx="1"/>
          </p:cNvCxnSpPr>
          <p:nvPr/>
        </p:nvCxnSpPr>
        <p:spPr>
          <a:xfrm flipH="1">
            <a:off x="2829525" y="787900"/>
            <a:ext cx="1977000" cy="14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1"/>
          <p:cNvSpPr txBox="1"/>
          <p:nvPr/>
        </p:nvSpPr>
        <p:spPr>
          <a:xfrm>
            <a:off x="4806525" y="142670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Epoch loop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17" name="Google Shape;217;p31"/>
          <p:cNvCxnSpPr>
            <a:stCxn id="216" idx="1"/>
          </p:cNvCxnSpPr>
          <p:nvPr/>
        </p:nvCxnSpPr>
        <p:spPr>
          <a:xfrm rot="10800000">
            <a:off x="2728425" y="1564550"/>
            <a:ext cx="2078100" cy="4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31"/>
          <p:cNvSpPr txBox="1"/>
          <p:nvPr/>
        </p:nvSpPr>
        <p:spPr>
          <a:xfrm>
            <a:off x="4806525" y="1990425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Batch loop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19" name="Google Shape;219;p31"/>
          <p:cNvCxnSpPr>
            <a:stCxn id="218" idx="1"/>
          </p:cNvCxnSpPr>
          <p:nvPr/>
        </p:nvCxnSpPr>
        <p:spPr>
          <a:xfrm rot="10800000">
            <a:off x="3103725" y="2098575"/>
            <a:ext cx="1702800" cy="7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1"/>
          <p:cNvSpPr txBox="1"/>
          <p:nvPr/>
        </p:nvSpPr>
        <p:spPr>
          <a:xfrm>
            <a:off x="4866850" y="242425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Clear previous gradients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1" name="Google Shape;221;p31"/>
          <p:cNvCxnSpPr>
            <a:stCxn id="220" idx="1"/>
          </p:cNvCxnSpPr>
          <p:nvPr/>
        </p:nvCxnSpPr>
        <p:spPr>
          <a:xfrm rot="10800000">
            <a:off x="2648950" y="2445100"/>
            <a:ext cx="2217900" cy="16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31"/>
          <p:cNvSpPr txBox="1"/>
          <p:nvPr/>
        </p:nvSpPr>
        <p:spPr>
          <a:xfrm>
            <a:off x="4866850" y="2793550"/>
            <a:ext cx="26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Execute the model’s forward function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3" name="Google Shape;223;p31"/>
          <p:cNvCxnSpPr>
            <a:stCxn id="222" idx="1"/>
          </p:cNvCxnSpPr>
          <p:nvPr/>
        </p:nvCxnSpPr>
        <p:spPr>
          <a:xfrm rot="10800000">
            <a:off x="3067450" y="2712100"/>
            <a:ext cx="1799400" cy="26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1"/>
          <p:cNvSpPr txBox="1"/>
          <p:nvPr/>
        </p:nvSpPr>
        <p:spPr>
          <a:xfrm>
            <a:off x="4866850" y="3299525"/>
            <a:ext cx="34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Update the weights via 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backpropagation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of forward predictions.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5" name="Google Shape;225;p31"/>
          <p:cNvCxnSpPr>
            <a:stCxn id="224" idx="1"/>
          </p:cNvCxnSpPr>
          <p:nvPr/>
        </p:nvCxnSpPr>
        <p:spPr>
          <a:xfrm rot="10800000">
            <a:off x="2887150" y="3092975"/>
            <a:ext cx="1979700" cy="483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1"/>
          <p:cNvSpPr txBox="1"/>
          <p:nvPr/>
        </p:nvSpPr>
        <p:spPr>
          <a:xfrm>
            <a:off x="4866850" y="4108575"/>
            <a:ext cx="263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Get validation metrics (useful for hyperparameter tuning)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7" name="Google Shape;227;p31"/>
          <p:cNvCxnSpPr>
            <a:stCxn id="226" idx="1"/>
          </p:cNvCxnSpPr>
          <p:nvPr/>
        </p:nvCxnSpPr>
        <p:spPr>
          <a:xfrm rot="10800000">
            <a:off x="4265350" y="4357125"/>
            <a:ext cx="601500" cy="28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550" y="477466"/>
            <a:ext cx="2453275" cy="1960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750" y="477475"/>
            <a:ext cx="2453275" cy="196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6550" y="2668600"/>
            <a:ext cx="2453275" cy="1971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7325" y="2668600"/>
            <a:ext cx="2490125" cy="199741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1091050" y="1276775"/>
            <a:ext cx="7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1 Layer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7420275" y="1276775"/>
            <a:ext cx="7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2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Layers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1008450" y="3482675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10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Layers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7420275" y="3469638"/>
            <a:ext cx="8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30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Layers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>
            <a:off x="5881000" y="0"/>
            <a:ext cx="3263100" cy="330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5252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000" y="3434732"/>
            <a:ext cx="3263100" cy="165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2124" y="0"/>
            <a:ext cx="2990350" cy="30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/>
        </p:nvSpPr>
        <p:spPr>
          <a:xfrm>
            <a:off x="5881000" y="2993625"/>
            <a:ext cx="37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11111"/>
                </a:solidFill>
                <a:latin typeface="Average"/>
                <a:ea typeface="Average"/>
                <a:cs typeface="Average"/>
                <a:sym typeface="Average"/>
              </a:rPr>
              <a:t>https://www.tensorflow.org/tutorials/interpretability/integrated_gradients</a:t>
            </a:r>
            <a:endParaRPr sz="800">
              <a:solidFill>
                <a:srgbClr val="11111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3312875" y="1851600"/>
            <a:ext cx="251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Pixels positively associated with ‘is a fireboat’ during 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backpropagation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50" name="Google Shape;250;p33"/>
          <p:cNvCxnSpPr/>
          <p:nvPr/>
        </p:nvCxnSpPr>
        <p:spPr>
          <a:xfrm>
            <a:off x="5658000" y="2206900"/>
            <a:ext cx="1096800" cy="15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33"/>
          <p:cNvSpPr txBox="1"/>
          <p:nvPr/>
        </p:nvSpPr>
        <p:spPr>
          <a:xfrm>
            <a:off x="3194425" y="301050"/>
            <a:ext cx="251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From the Captum library - assigns importance to inputs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52" name="Google Shape;252;p33"/>
          <p:cNvCxnSpPr/>
          <p:nvPr/>
        </p:nvCxnSpPr>
        <p:spPr>
          <a:xfrm rot="10800000">
            <a:off x="2360425" y="554475"/>
            <a:ext cx="834000" cy="2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3"/>
          <p:cNvSpPr txBox="1"/>
          <p:nvPr/>
        </p:nvSpPr>
        <p:spPr>
          <a:xfrm>
            <a:off x="3072625" y="2675950"/>
            <a:ext cx="251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For </a:t>
            </a: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each input, record that input’s importance.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54" name="Google Shape;254;p33"/>
          <p:cNvCxnSpPr/>
          <p:nvPr/>
        </p:nvCxnSpPr>
        <p:spPr>
          <a:xfrm rot="10800000">
            <a:off x="1595425" y="2914150"/>
            <a:ext cx="1477200" cy="53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3"/>
          <p:cNvSpPr txBox="1"/>
          <p:nvPr/>
        </p:nvSpPr>
        <p:spPr>
          <a:xfrm>
            <a:off x="3133863" y="3301500"/>
            <a:ext cx="251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Can’t take our cargo ship to the grocery store.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56" name="Google Shape;256;p33"/>
          <p:cNvCxnSpPr>
            <a:stCxn id="255" idx="1"/>
          </p:cNvCxnSpPr>
          <p:nvPr/>
        </p:nvCxnSpPr>
        <p:spPr>
          <a:xfrm rot="10800000">
            <a:off x="2064663" y="3014850"/>
            <a:ext cx="1069200" cy="563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0656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714" y="152400"/>
            <a:ext cx="155271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8451" y="1481275"/>
            <a:ext cx="2731875" cy="319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34"/>
          <p:cNvCxnSpPr/>
          <p:nvPr/>
        </p:nvCxnSpPr>
        <p:spPr>
          <a:xfrm>
            <a:off x="5131250" y="1629625"/>
            <a:ext cx="577200" cy="2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50" y="1016288"/>
            <a:ext cx="2549950" cy="28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 txBox="1"/>
          <p:nvPr/>
        </p:nvSpPr>
        <p:spPr>
          <a:xfrm>
            <a:off x="3234175" y="3222638"/>
            <a:ext cx="19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Dropping consecutive tiles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71" name="Google Shape;271;p35"/>
          <p:cNvCxnSpPr>
            <a:endCxn id="270" idx="1"/>
          </p:cNvCxnSpPr>
          <p:nvPr/>
        </p:nvCxnSpPr>
        <p:spPr>
          <a:xfrm flipH="1" rot="10800000">
            <a:off x="1104775" y="3407288"/>
            <a:ext cx="2129400" cy="12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2" name="Google Shape;272;p35"/>
          <p:cNvSpPr txBox="1"/>
          <p:nvPr/>
        </p:nvSpPr>
        <p:spPr>
          <a:xfrm>
            <a:off x="3234175" y="2429775"/>
            <a:ext cx="277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Inner tiles before outer tile or honor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73" name="Google Shape;273;p35"/>
          <p:cNvCxnSpPr>
            <a:endCxn id="272" idx="1"/>
          </p:cNvCxnSpPr>
          <p:nvPr/>
        </p:nvCxnSpPr>
        <p:spPr>
          <a:xfrm>
            <a:off x="1220875" y="2538825"/>
            <a:ext cx="2013300" cy="7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4" name="Google Shape;274;p35"/>
          <p:cNvCxnSpPr>
            <a:endCxn id="272" idx="1"/>
          </p:cNvCxnSpPr>
          <p:nvPr/>
        </p:nvCxnSpPr>
        <p:spPr>
          <a:xfrm>
            <a:off x="1156075" y="2250225"/>
            <a:ext cx="2078100" cy="36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5" name="Google Shape;275;p35"/>
          <p:cNvSpPr txBox="1"/>
          <p:nvPr/>
        </p:nvSpPr>
        <p:spPr>
          <a:xfrm>
            <a:off x="3190825" y="1088163"/>
            <a:ext cx="201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Halfway through the game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76" name="Google Shape;276;p35"/>
          <p:cNvCxnSpPr>
            <a:endCxn id="275" idx="1"/>
          </p:cNvCxnSpPr>
          <p:nvPr/>
        </p:nvCxnSpPr>
        <p:spPr>
          <a:xfrm flipH="1" rot="10800000">
            <a:off x="1378825" y="1272813"/>
            <a:ext cx="1812000" cy="7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277" name="Google Shape;27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7901" y="1026113"/>
            <a:ext cx="2549950" cy="31010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5"/>
          <p:cNvCxnSpPr>
            <a:endCxn id="270" idx="3"/>
          </p:cNvCxnSpPr>
          <p:nvPr/>
        </p:nvCxnSpPr>
        <p:spPr>
          <a:xfrm flipH="1">
            <a:off x="5160775" y="2957288"/>
            <a:ext cx="966900" cy="45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9" name="Google Shape;279;p35"/>
          <p:cNvCxnSpPr>
            <a:endCxn id="270" idx="3"/>
          </p:cNvCxnSpPr>
          <p:nvPr/>
        </p:nvCxnSpPr>
        <p:spPr>
          <a:xfrm flipH="1">
            <a:off x="5160775" y="2733788"/>
            <a:ext cx="995700" cy="67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80" name="Google Shape;280;p35"/>
          <p:cNvSpPr txBox="1"/>
          <p:nvPr/>
        </p:nvSpPr>
        <p:spPr>
          <a:xfrm>
            <a:off x="3234275" y="1688238"/>
            <a:ext cx="23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Early honors (negative influence)</a:t>
            </a:r>
            <a:endParaRPr sz="1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81" name="Google Shape;281;p35"/>
          <p:cNvCxnSpPr>
            <a:endCxn id="280" idx="3"/>
          </p:cNvCxnSpPr>
          <p:nvPr/>
        </p:nvCxnSpPr>
        <p:spPr>
          <a:xfrm rot="10800000">
            <a:off x="5572475" y="1872888"/>
            <a:ext cx="598500" cy="8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2" name="Google Shape;282;p35"/>
          <p:cNvCxnSpPr/>
          <p:nvPr/>
        </p:nvCxnSpPr>
        <p:spPr>
          <a:xfrm flipH="1">
            <a:off x="5723000" y="2481100"/>
            <a:ext cx="432900" cy="15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3" name="Google Shape;283;p35"/>
          <p:cNvCxnSpPr>
            <a:endCxn id="270" idx="1"/>
          </p:cNvCxnSpPr>
          <p:nvPr/>
        </p:nvCxnSpPr>
        <p:spPr>
          <a:xfrm flipH="1" rot="10800000">
            <a:off x="1162375" y="3407288"/>
            <a:ext cx="2071800" cy="12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4" name="Google Shape;284;p35"/>
          <p:cNvCxnSpPr>
            <a:endCxn id="280" idx="1"/>
          </p:cNvCxnSpPr>
          <p:nvPr/>
        </p:nvCxnSpPr>
        <p:spPr>
          <a:xfrm flipH="1" rot="10800000">
            <a:off x="1263575" y="1872888"/>
            <a:ext cx="1970700" cy="10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